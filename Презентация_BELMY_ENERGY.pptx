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109728" cy="109728"/>
          </a:xfrm>
          <a:prstGeom prst="ellipse">
            <a:avLst/>
          </a:prstGeom>
          <a:solidFill>
            <a:srgbClr val="4CAF8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" y="1371600"/>
            <a:ext cx="109728" cy="109728"/>
          </a:xfrm>
          <a:prstGeom prst="ellipse">
            <a:avLst/>
          </a:prstGeom>
          <a:solidFill>
            <a:srgbClr val="4CAF82"/>
          </a:solidFill>
          <a:ln/>
        </p:spPr>
      </p:sp>
      <p:sp>
        <p:nvSpPr>
          <p:cNvPr id="4" name="Shape 2"/>
          <p:cNvSpPr/>
          <p:nvPr/>
        </p:nvSpPr>
        <p:spPr>
          <a:xfrm>
            <a:off x="1298448" y="1371600"/>
            <a:ext cx="109728" cy="109728"/>
          </a:xfrm>
          <a:prstGeom prst="ellipse">
            <a:avLst/>
          </a:prstGeom>
          <a:solidFill>
            <a:srgbClr val="4CAF82"/>
          </a:solidFill>
          <a:ln/>
        </p:spPr>
      </p:sp>
      <p:sp>
        <p:nvSpPr>
          <p:cNvPr id="5" name="Shape 3"/>
          <p:cNvSpPr/>
          <p:nvPr/>
        </p:nvSpPr>
        <p:spPr>
          <a:xfrm>
            <a:off x="1536192" y="1371600"/>
            <a:ext cx="109728" cy="109728"/>
          </a:xfrm>
          <a:prstGeom prst="ellipse">
            <a:avLst/>
          </a:prstGeom>
          <a:solidFill>
            <a:srgbClr val="2E4A57"/>
          </a:solidFill>
          <a:ln/>
        </p:spPr>
      </p:sp>
      <p:sp>
        <p:nvSpPr>
          <p:cNvPr id="6" name="Shape 4"/>
          <p:cNvSpPr/>
          <p:nvPr/>
        </p:nvSpPr>
        <p:spPr>
          <a:xfrm>
            <a:off x="1773936" y="1371600"/>
            <a:ext cx="109728" cy="109728"/>
          </a:xfrm>
          <a:prstGeom prst="ellipse">
            <a:avLst/>
          </a:prstGeom>
          <a:solidFill>
            <a:srgbClr val="2E4A5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BELMY ENERGY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10607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управления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производством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C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Веб-платформа для управления производством литий-ионных аккумуляторов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5257800"/>
            <a:ext cx="2194560" cy="0"/>
          </a:xfrm>
          <a:prstGeom prst="line">
            <a:avLst/>
          </a:prstGeom>
          <a:noFill/>
          <a:ln w="25400">
            <a:solidFill>
              <a:srgbClr val="3D99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440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 проекта  ·  ООО «БЕЛМИ ЭНЕРДЖИ»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ПРОЕКТЕ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система для всего цикла производства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E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Веб-приложение проводит заказ через всё производство: от постановки плана до отметки о выполнении на смене и аналитики. Каждая роль видит ровно свой участок работы — от начальника производства до рабочего в цеху.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267004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27000" dist="50800" dir="5400000">
              <a:srgbClr val="9AA5A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3364992"/>
            <a:ext cx="2670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4279392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ролей с разными правами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529584" y="3108960"/>
            <a:ext cx="267004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27000" dist="50800" dir="5400000">
              <a:srgbClr val="9AA5A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9584" y="3364992"/>
            <a:ext cx="2670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712464" y="4279392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производственных модулей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19088" y="3108960"/>
            <a:ext cx="267004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27000" dist="50800" dir="5400000">
              <a:srgbClr val="9AA5A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19088" y="3364992"/>
            <a:ext cx="2670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6601968" y="4279392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цикла — заказ → смена → отчёт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308592" y="3108960"/>
            <a:ext cx="267004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27000" dist="50800" dir="5400000">
              <a:srgbClr val="9AA5A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08592" y="3364992"/>
            <a:ext cx="2670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9491472" y="4279392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в реальном времени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440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входит в систему (по ТЗ): контроль качества ведётся отдельно; расчёт премий — система только показывает статистику и рейтинг.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И ПРАВА ДОСТУПА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ролей — каждая видит своё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270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02536"/>
            <a:ext cx="438912" cy="438912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025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0195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901952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Настраивает структуру: участки, пользователи, роли. Журнал аудита всех действий.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724912"/>
            <a:ext cx="109270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98648"/>
            <a:ext cx="438912" cy="438912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986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2798064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Планировщик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798064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Создаёт заказы, раскладывает на операции с количеством, задаёт горизонт планирования.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621024"/>
            <a:ext cx="109270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794760"/>
            <a:ext cx="438912" cy="438912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3694176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Начальник производства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3694176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Видит весь завод: сводка, тренды, предупреждения о срыве плана.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517136"/>
            <a:ext cx="109270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690872"/>
            <a:ext cx="438912" cy="438912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690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00200" y="459028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Начальник участка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4590288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Распределяет операции по людям с учётом компетенций, ведёт смены и оборудование.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413248"/>
            <a:ext cx="109270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5586984"/>
            <a:ext cx="438912" cy="438912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5869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600200" y="54864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54880" y="548640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Отмечается на смене и фиксирует выполнение — максимально простой экран.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НАЧАЛЬНИК УЧАСТКА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операций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984248"/>
            <a:ext cx="146304" cy="146304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1892808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смены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план, операции в работе, люди на смене, риск.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2642616"/>
            <a:ext cx="146304" cy="146304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2551176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Назначение по компетенциям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система подсказывает, кто умеет.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3300984"/>
            <a:ext cx="146304" cy="146304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9" name="Text 7"/>
          <p:cNvSpPr/>
          <p:nvPr/>
        </p:nvSpPr>
        <p:spPr>
          <a:xfrm>
            <a:off x="978408" y="3209544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 по каждой операции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и суммарно по заказу.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3959352"/>
            <a:ext cx="146304" cy="146304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3867912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Реальное время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доска обновляется по WebSocket.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992624" y="1152144"/>
            <a:ext cx="6702552" cy="4250817"/>
          </a:xfrm>
          <a:prstGeom prst="roundRect">
            <a:avLst>
              <a:gd name="adj" fmla="val 1721"/>
            </a:avLst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127000" dist="50800" dir="5400000">
              <a:srgbClr val="9AA5A0">
                <a:alpha val="45000"/>
              </a:srgbClr>
            </a:outerShdw>
          </a:effectLst>
        </p:spPr>
      </p:sp>
      <p:pic>
        <p:nvPicPr>
          <p:cNvPr id="13" name="Image 0" descr="C:/Users/Sergey/AppData/Local/Temp/claude/C--Users-Sergey-Desktop-Work/ded5bf05-ccdd-407a-a92a-54c10965c54e/scratchpad/screens/02-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234440"/>
            <a:ext cx="6537960" cy="40862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НАЧАЛЬНИК УЧАСТКА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Планирование смен и персонал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84248"/>
            <a:ext cx="146304" cy="146304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1892808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Недельная сетка смен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день / ночь по клику.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2642616"/>
            <a:ext cx="146304" cy="146304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2551176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 компетенций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кто какими навыками владеет.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3300984"/>
            <a:ext cx="146304" cy="146304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9" name="Text 7"/>
          <p:cNvSpPr/>
          <p:nvPr/>
        </p:nvSpPr>
        <p:spPr>
          <a:xfrm>
            <a:off x="978408" y="3209544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Отсутствия и переводы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между участками с подтверждением.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3959352"/>
            <a:ext cx="146304" cy="146304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3867912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причин простоя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с зоной ответственности.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992624" y="1289304"/>
            <a:ext cx="6702552" cy="4250817"/>
          </a:xfrm>
          <a:prstGeom prst="roundRect">
            <a:avLst>
              <a:gd name="adj" fmla="val 1721"/>
            </a:avLst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127000" dist="50800" dir="5400000">
              <a:srgbClr val="9AA5A0">
                <a:alpha val="45000"/>
              </a:srgbClr>
            </a:outerShdw>
          </a:effectLst>
        </p:spPr>
      </p:sp>
      <p:pic>
        <p:nvPicPr>
          <p:cNvPr id="13" name="Image 0" descr="C:/Users/Sergey/AppData/Local/Temp/claude/C--Users-Sergey-Desktop-Work/ded5bf05-ccdd-407a-a92a-54c10965c54e/scratchpad/screens/04-shif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371600"/>
            <a:ext cx="6537960" cy="40862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· ЭКРАН ДЛЯ ЦЕХА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 экран для людей без опыта с ПО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029968"/>
            <a:ext cx="146304" cy="146304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1938528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Крупные кнопки и поля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под планшет в цеху.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2688336"/>
            <a:ext cx="146304" cy="146304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2596896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Отметка прихода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в одно касание.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3346704"/>
            <a:ext cx="146304" cy="146304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9" name="Text 7"/>
          <p:cNvSpPr/>
          <p:nvPr/>
        </p:nvSpPr>
        <p:spPr>
          <a:xfrm>
            <a:off x="978408" y="3255264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Годных и брак, шт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раздельный ввод.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4005072"/>
            <a:ext cx="146304" cy="146304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3913632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 2 исправления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на операцию.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84064" y="1289304"/>
            <a:ext cx="6611112" cy="4193667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127000" dist="50800" dir="5400000">
              <a:srgbClr val="9AA5A0">
                <a:alpha val="45000"/>
              </a:srgbClr>
            </a:outerShdw>
          </a:effectLst>
        </p:spPr>
      </p:sp>
      <p:pic>
        <p:nvPicPr>
          <p:cNvPr id="13" name="Image 0" descr="C:/Users/Sergey/AppData/Local/Temp/claude/C--Users-Sergey-Desktop-Work/ded5bf05-ccdd-407a-a92a-54c10965c54e/scratchpad/screens/13-wor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371600"/>
            <a:ext cx="6446520" cy="4029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РЕСУРСЫ УЧАСТКА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 и склад материалов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состояния оборудования (в работе / обслуживание / поломка) с автоуведомлением начальнику производства, и остатки материалов с оповещением о низком запасе.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 участка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504" y="2569464"/>
            <a:ext cx="5513832" cy="3507867"/>
          </a:xfrm>
          <a:prstGeom prst="roundRect">
            <a:avLst>
              <a:gd name="adj" fmla="val 2085"/>
            </a:avLst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127000" dist="50800" dir="5400000">
              <a:srgbClr val="9AA5A0">
                <a:alpha val="45000"/>
              </a:srgbClr>
            </a:outerShdw>
          </a:effectLst>
        </p:spPr>
      </p:sp>
      <p:pic>
        <p:nvPicPr>
          <p:cNvPr id="7" name="Image 0" descr="C:/Users/Sergey/AppData/Local/Temp/claude/C--Users-Sergey-Desktop-Work/ded5bf05-ccdd-407a-a92a-54c10965c54e/scratchpad/screens/05-equip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651760"/>
            <a:ext cx="5349240" cy="33432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55080" y="2240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 материалов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72784" y="2569464"/>
            <a:ext cx="5513832" cy="3507867"/>
          </a:xfrm>
          <a:prstGeom prst="roundRect">
            <a:avLst>
              <a:gd name="adj" fmla="val 2085"/>
            </a:avLst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127000" dist="50800" dir="5400000">
              <a:srgbClr val="9AA5A0">
                <a:alpha val="45000"/>
              </a:srgbClr>
            </a:outerShdw>
          </a:effectLst>
        </p:spPr>
      </p:sp>
      <p:pic>
        <p:nvPicPr>
          <p:cNvPr id="10" name="Image 1" descr="C:/Users/Sergey/AppData/Local/Temp/claude/C--Users-Sergey-Desktop-Work/ded5bf05-ccdd-407a-a92a-54c10965c54e/scratchpad/screens/10-materi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651760"/>
            <a:ext cx="5349240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НАЧАЛЬНИК ПРОИЗВОДСТВА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и тренды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984248"/>
            <a:ext cx="146304" cy="146304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1892808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 по дням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динамика за 7 / 14 / 30 дней.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2642616"/>
            <a:ext cx="146304" cy="146304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2551176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брака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 дням и в среднем.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3300984"/>
            <a:ext cx="146304" cy="146304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9" name="Text 7"/>
          <p:cNvSpPr/>
          <p:nvPr/>
        </p:nvSpPr>
        <p:spPr>
          <a:xfrm>
            <a:off x="978408" y="3209544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по заводу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и рейтинг сотрудников.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3959352"/>
            <a:ext cx="146304" cy="146304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3867912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Предупреждения</a:t>
            </a:r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о срыве плана — автоматически.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992624" y="1289304"/>
            <a:ext cx="6702552" cy="4250817"/>
          </a:xfrm>
          <a:prstGeom prst="roundRect">
            <a:avLst>
              <a:gd name="adj" fmla="val 1721"/>
            </a:avLst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127000" dist="50800" dir="5400000">
              <a:srgbClr val="9AA5A0">
                <a:alpha val="45000"/>
              </a:srgbClr>
            </a:outerShdw>
          </a:effectLst>
        </p:spPr>
      </p:sp>
      <p:pic>
        <p:nvPicPr>
          <p:cNvPr id="13" name="Image 0" descr="C:/Users/Sergey/AppData/Local/Temp/claude/C--Users-Sergey-Desktop-Work/ded5bf05-ccdd-407a-a92a-54c10965c54e/scratchpad/screens/08-tre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371600"/>
            <a:ext cx="6537960" cy="40862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3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Современный и надёжный стек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6949440" cy="914400"/>
          </a:xfrm>
          <a:prstGeom prst="roundRect">
            <a:avLst>
              <a:gd name="adj" fmla="val 10000"/>
            </a:avLst>
          </a:prstGeom>
          <a:solidFill>
            <a:srgbClr val="1C3B49"/>
          </a:solidFill>
          <a:ln w="12700">
            <a:solidFill>
              <a:srgbClr val="2C4E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128016" cy="914400"/>
          </a:xfrm>
          <a:prstGeom prst="roundRect">
            <a:avLst>
              <a:gd name="adj" fmla="val 42857"/>
            </a:avLst>
          </a:prstGeom>
          <a:solidFill>
            <a:srgbClr val="4CAF82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07568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" y="24414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Vite  ·  адаптивный интерфейс, тёмная тема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017520"/>
            <a:ext cx="6949440" cy="914400"/>
          </a:xfrm>
          <a:prstGeom prst="roundRect">
            <a:avLst>
              <a:gd name="adj" fmla="val 10000"/>
            </a:avLst>
          </a:prstGeom>
          <a:solidFill>
            <a:srgbClr val="1C3B49"/>
          </a:solidFill>
          <a:ln w="12700">
            <a:solidFill>
              <a:srgbClr val="2C4E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017520"/>
            <a:ext cx="128016" cy="914400"/>
          </a:xfrm>
          <a:prstGeom prst="roundRect">
            <a:avLst>
              <a:gd name="adj" fmla="val 42857"/>
            </a:avLst>
          </a:prstGeom>
          <a:solidFill>
            <a:srgbClr val="3D9970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1272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43000" y="34930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+ TypeScript  ·  REST + JWT, роли и права, WebSocket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069080"/>
            <a:ext cx="6949440" cy="914400"/>
          </a:xfrm>
          <a:prstGeom prst="roundRect">
            <a:avLst>
              <a:gd name="adj" fmla="val 10000"/>
            </a:avLst>
          </a:prstGeom>
          <a:solidFill>
            <a:srgbClr val="1C3B49"/>
          </a:solidFill>
          <a:ln w="12700">
            <a:solidFill>
              <a:srgbClr val="2C4E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069080"/>
            <a:ext cx="128016" cy="914400"/>
          </a:xfrm>
          <a:prstGeom prst="roundRect">
            <a:avLst>
              <a:gd name="adj" fmla="val 42857"/>
            </a:avLst>
          </a:prstGeom>
          <a:solidFill>
            <a:srgbClr val="2E7D8C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17880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43000" y="45445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Prisma  ·  миграции, ежедневный бэкап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6949440" cy="914400"/>
          </a:xfrm>
          <a:prstGeom prst="roundRect">
            <a:avLst>
              <a:gd name="adj" fmla="val 10000"/>
            </a:avLst>
          </a:prstGeom>
          <a:solidFill>
            <a:srgbClr val="1C3B49"/>
          </a:solidFill>
          <a:ln w="12700">
            <a:solidFill>
              <a:srgbClr val="2C4E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120640"/>
            <a:ext cx="128016" cy="914400"/>
          </a:xfrm>
          <a:prstGeom prst="roundRect">
            <a:avLst>
              <a:gd name="adj" fmla="val 42857"/>
            </a:avLst>
          </a:prstGeom>
          <a:solidFill>
            <a:srgbClr val="4A6270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52303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43000" y="559612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 ·  запуск одной командой, авто-миграции и seed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75320" y="2020824"/>
            <a:ext cx="182880" cy="182880"/>
          </a:xfrm>
          <a:prstGeom prst="ellipse">
            <a:avLst/>
          </a:prstGeom>
          <a:solidFill>
            <a:srgbClr val="4CAF82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0" y="19202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Реальное время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F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— доска и уведомления без перезагрузки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275320" y="3072384"/>
            <a:ext cx="182880" cy="182880"/>
          </a:xfrm>
          <a:prstGeom prst="ellipse">
            <a:avLst/>
          </a:prstGeom>
          <a:solidFill>
            <a:srgbClr val="4CAF82"/>
          </a:solidFill>
          <a:ln/>
        </p:spPr>
      </p:sp>
      <p:sp>
        <p:nvSpPr>
          <p:cNvPr id="23" name="Text 21"/>
          <p:cNvSpPr/>
          <p:nvPr/>
        </p:nvSpPr>
        <p:spPr>
          <a:xfrm>
            <a:off x="8595360" y="2971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F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RolesGuard, helmet, CORS, rate-limit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275320" y="4123944"/>
            <a:ext cx="182880" cy="182880"/>
          </a:xfrm>
          <a:prstGeom prst="ellipse">
            <a:avLst/>
          </a:prstGeom>
          <a:solidFill>
            <a:srgbClr val="4CAF82"/>
          </a:solidFill>
          <a:ln/>
        </p:spPr>
      </p:sp>
      <p:sp>
        <p:nvSpPr>
          <p:cNvPr id="25" name="Text 23"/>
          <p:cNvSpPr/>
          <p:nvPr/>
        </p:nvSpPr>
        <p:spPr>
          <a:xfrm>
            <a:off x="8595360" y="4023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Надёжность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F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авто-миграции, seed и бэкап БД при старте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275320" y="5175504"/>
            <a:ext cx="182880" cy="182880"/>
          </a:xfrm>
          <a:prstGeom prst="ellipse">
            <a:avLst/>
          </a:prstGeom>
          <a:solidFill>
            <a:srgbClr val="4CAF82"/>
          </a:solidFill>
          <a:ln/>
        </p:spPr>
      </p:sp>
      <p:sp>
        <p:nvSpPr>
          <p:cNvPr id="27" name="Text 25"/>
          <p:cNvSpPr/>
          <p:nvPr/>
        </p:nvSpPr>
        <p:spPr>
          <a:xfrm>
            <a:off x="8595360" y="5074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Проверено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F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e2e-тесты (Playwright) + нагрузочный тест 50+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уже работает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27000" dist="50800" dir="5400000">
              <a:srgbClr val="9AA5A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F5EE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231136"/>
            <a:ext cx="164592" cy="164592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206654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Заказы и маршруты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670048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Шаблоны продуктов — заказ создаётся в один клик с готовыми операциями.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27000" dist="50800" dir="5400000">
              <a:srgbClr val="9AA5A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20848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F5EE"/>
          </a:solidFill>
          <a:ln/>
        </p:spPr>
      </p:sp>
      <p:sp>
        <p:nvSpPr>
          <p:cNvPr id="11" name="Shape 9"/>
          <p:cNvSpPr/>
          <p:nvPr/>
        </p:nvSpPr>
        <p:spPr>
          <a:xfrm>
            <a:off x="4791456" y="2231136"/>
            <a:ext cx="164592" cy="164592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206654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по людям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63440" y="2670048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Назначение с учётом компетенций, смен и отсутствий.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27000" dist="50800" dir="5400000">
              <a:srgbClr val="9AA5A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20848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F5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540496" y="2231136"/>
            <a:ext cx="164592" cy="164592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17" name="Text 15"/>
          <p:cNvSpPr/>
          <p:nvPr/>
        </p:nvSpPr>
        <p:spPr>
          <a:xfrm>
            <a:off x="9006840" y="206654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брака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12480" y="2670048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Годных / брак по каждой операции, % брака в статистике.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640080" y="3776472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27000" dist="50800" dir="5400000">
              <a:srgbClr val="9AA5A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03250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F5EE"/>
          </a:solidFill>
          <a:ln/>
        </p:spPr>
      </p:sp>
      <p:sp>
        <p:nvSpPr>
          <p:cNvPr id="21" name="Shape 19"/>
          <p:cNvSpPr/>
          <p:nvPr/>
        </p:nvSpPr>
        <p:spPr>
          <a:xfrm>
            <a:off x="1042416" y="4178808"/>
            <a:ext cx="164592" cy="164592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22" name="Text 20"/>
          <p:cNvSpPr/>
          <p:nvPr/>
        </p:nvSpPr>
        <p:spPr>
          <a:xfrm>
            <a:off x="1508760" y="401421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 и склад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14400" y="461772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Статусы, обслуживание, остатки и низкий запас с оповещением.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4389120" y="3776472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27000" dist="50800" dir="5400000">
              <a:srgbClr val="9AA5A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5152" y="403250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F5EE"/>
          </a:solidFill>
          <a:ln/>
        </p:spPr>
      </p:sp>
      <p:sp>
        <p:nvSpPr>
          <p:cNvPr id="26" name="Shape 24"/>
          <p:cNvSpPr/>
          <p:nvPr/>
        </p:nvSpPr>
        <p:spPr>
          <a:xfrm>
            <a:off x="4791456" y="4178808"/>
            <a:ext cx="164592" cy="164592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27" name="Text 25"/>
          <p:cNvSpPr/>
          <p:nvPr/>
        </p:nvSpPr>
        <p:spPr>
          <a:xfrm>
            <a:off x="5257800" y="401421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663440" y="461772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Задания, поломки, низкий остаток, готовность заказа — в реальном времени.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8138160" y="3776472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27000" dist="50800" dir="5400000">
              <a:srgbClr val="9AA5A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94192" y="403250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F5EE"/>
          </a:solidFill>
          <a:ln/>
        </p:spPr>
      </p:sp>
      <p:sp>
        <p:nvSpPr>
          <p:cNvPr id="31" name="Shape 29"/>
          <p:cNvSpPr/>
          <p:nvPr/>
        </p:nvSpPr>
        <p:spPr>
          <a:xfrm>
            <a:off x="8540496" y="4178808"/>
            <a:ext cx="164592" cy="164592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32" name="Text 30"/>
          <p:cNvSpPr/>
          <p:nvPr/>
        </p:nvSpPr>
        <p:spPr>
          <a:xfrm>
            <a:off x="9006840" y="401421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и бэкапы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412480" y="461772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действия логируются; ежедневная резервная копия БД.</a:t>
            </a:r>
            <a:endParaRPr lang="en-US" sz="12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3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 к демонстрации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583680" cy="3566160"/>
          </a:xfrm>
          <a:prstGeom prst="roundRect">
            <a:avLst>
              <a:gd name="adj" fmla="val 3077"/>
            </a:avLst>
          </a:prstGeom>
          <a:solidFill>
            <a:srgbClr val="1C3B49"/>
          </a:solidFill>
          <a:ln w="12700">
            <a:solidFill>
              <a:srgbClr val="2C4E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сделано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26060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7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 для всех 5 ролей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3136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3136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7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Оборудование, склад, смены, аналитика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3666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66674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7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Реальное время, уведомления, аудит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14400" y="4197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4197096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7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Проверено сквозными тестами и в Docker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14400" y="4727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72744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7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Наполнено демо-данными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498080" y="1828800"/>
            <a:ext cx="4069080" cy="3566160"/>
          </a:xfrm>
          <a:prstGeom prst="roundRect">
            <a:avLst>
              <a:gd name="adj" fmla="val 3077"/>
            </a:avLst>
          </a:prstGeom>
          <a:solidFill>
            <a:srgbClr val="3D997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за 1 команду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0" y="260604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0F2029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26060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CA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0" y="338328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
</a:t>
            </a:r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A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localhost:5173
</a:t>
            </a:r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для входа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A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planner · production_head
site_lead · worker
</a:t>
            </a:r>
            <a:pPr algn="l"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EA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пароль: password123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по плану: экспорт в PDF/Excel, профиль сотрудника, PWA и QR-сканирование, расширенная админка.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управления производством</dc:title>
  <dc:subject>PptxGenJS Presentation</dc:subject>
  <dc:creator>BELMY ENERGY</dc:creator>
  <cp:lastModifiedBy>BELMY ENERGY</cp:lastModifiedBy>
  <cp:revision>1</cp:revision>
  <dcterms:created xsi:type="dcterms:W3CDTF">2026-07-14T21:33:38Z</dcterms:created>
  <dcterms:modified xsi:type="dcterms:W3CDTF">2026-07-14T21:33:38Z</dcterms:modified>
</cp:coreProperties>
</file>